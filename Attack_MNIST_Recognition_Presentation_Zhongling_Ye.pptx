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Today I will present my adversarial attack experiment on MNIST recognition.
- The goal is to start with a high accuracy model and then test how easily it can be fooled.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assignment asks for training and testing on the official MNIST split.
- Then I evaluate both clean recognition rate and attack success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clean CNN is strong on normal MNIST images.
- That high starting accuracy gives a good baseline for measuring how much attacks reduce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perturbation is not random.
- It is calculated from the model gradient, so it pushes the input in the direction that increases the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FGSM is simple and fast because it only uses one gradient step.
- PGD and Momentum I-FGSM repeat the update, which usually creates stronger adversarial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ASR is computed in a strict way.
- The denominator is the examples the clean model got correct, because those are the examples that can be meaningfully fooled.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trend is very clear: increasing epsilon increases ASR.
- The iterative methods have a much sharper increase than FGSM.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slide shows both the table and the practical meaning.
- The model is excellent on clean images but nearly fails under high-epsilon iterative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PGD is stronger because each step adapts based on the current adversarial image.
- Momentum I-FGSM adds accumulated gradient direction to avoid unstable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My main takeaway is that a model can be accurate but not robust.
- For future work, I would try adversarial training and compare defended and undefended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28816"/>
            <a:ext cx="112014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 MNIST Recognition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Attack MNIST Recognition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94944" y="12984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2D2"/>
                </a:solidFill>
              </a:rPr>
              <a:t>Adversarial attacks on a trained CNN: FGSM, PGD, and Momentum I-FGSM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" y="1901952"/>
            <a:ext cx="2148840" cy="292608"/>
          </a:xfrm>
          <a:prstGeom prst="roundRect">
            <a:avLst>
              <a:gd name="adj" fmla="val 21875"/>
            </a:avLst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70532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MNIST · PyTorch · CNN · ASR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66760" y="640080"/>
            <a:ext cx="246888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5048" y="685800"/>
            <a:ext cx="24323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9738360" y="3291840"/>
            <a:ext cx="164592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3337560"/>
            <a:ext cx="1609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7360920" y="3886200"/>
            <a:ext cx="14173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9208" y="3931920"/>
            <a:ext cx="1380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713232" y="5833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4F1"/>
                </a:solidFill>
              </a:rPr>
              <a:t>Zhongling Ye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Train on MNIST train set, test on MNIST test set, then measure robustness under attacks.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Required metrics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1148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Recognition rate before attacks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Attack Success Rate (ASR) after attacks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Compare attacks across epsilon values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294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Algorithms implemented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0" y="1783080"/>
            <a:ext cx="45720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FGSM: one gradient-sign step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PGD / I-FGSM: iterative update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Momentum I-FGSM: iterative update with accumulated gradient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14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MNIST Train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4215384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388620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4114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Simple CNN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90872" y="4215384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388620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4114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Clean 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31152" y="4215384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43800" y="388620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4114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Adversarial 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71432" y="4215384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84080" y="388620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4114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ASR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and data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target model is a small CNN trained on MNIST handwritten digits.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563EB"/>
                </a:solidFill>
              </a:rPr>
              <a:t>60k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68680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training images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71800" y="123444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A34A"/>
                </a:solidFill>
              </a:rPr>
              <a:t>10k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971800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test images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4920" y="123444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97316"/>
                </a:solidFill>
              </a:rPr>
              <a:t>99.28%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074920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clean test accuracy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43800" y="123444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C3AED"/>
                </a:solidFill>
              </a:rPr>
              <a:t>5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543800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training epochs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921240" y="960120"/>
            <a:ext cx="11430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39528" y="1005840"/>
            <a:ext cx="1106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5000" dirty="0"/>
          </a:p>
        </p:txBody>
      </p:sp>
      <p:sp>
        <p:nvSpPr>
          <p:cNvPr id="14" name="Shape 12"/>
          <p:cNvSpPr/>
          <p:nvPr/>
        </p:nvSpPr>
        <p:spPr>
          <a:xfrm>
            <a:off x="10058400" y="5257800"/>
            <a:ext cx="73152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76688" y="530352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2296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CNN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246120"/>
            <a:ext cx="46634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Conv2d 1→32, ReLU, MaxPool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Conv2d 32→64, ReLU, MaxPool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Flatten → FC(128) → Dropout(0.25)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FC(10) outputs logits for digits 0–9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Training detail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246120"/>
            <a:ext cx="47548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Optimizer: Adam, learning rate 0.001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Loss: CrossEntropyLoss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Batch size: 64 for training, 1000 for testing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Train augmentation: RandomAffine + normalization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adversarial attack?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small, carefully chosen perturbation can change the model prediction while the image still looks similar to a human.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14630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2024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2606040" y="2606040"/>
            <a:ext cx="6858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383280" y="2331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+ gradient-based noise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40680" y="2606040"/>
            <a:ext cx="6400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63640" y="1874520"/>
            <a:ext cx="14630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192024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7955280" y="2606040"/>
            <a:ext cx="5943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196596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Model predicts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wrong digit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Key idea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Instead of random noise, adversarial attacks use the gradient of the loss to choose a direction that increases classification error.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Attack algorithms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All three methods use gradients, but they differ in how many update steps they take.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971800" cy="40690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63EB"/>
                </a:solidFill>
              </a:rPr>
              <a:t>FGSM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2688" y="23317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One-step attack: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adv = x + ε · sign(∇x loss)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3703320"/>
            <a:ext cx="2514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069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Fastest, weakest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4709160"/>
            <a:ext cx="1325880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step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2971800" cy="40690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97316"/>
                </a:solidFill>
              </a:rPr>
              <a:t>PGD / I-FGSM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44568" y="23317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Multiple small steps; each step is projected back into the ε-ball.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703320"/>
            <a:ext cx="2514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4069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Stronger, more stable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4709160"/>
            <a:ext cx="1325880" cy="29260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steps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417320"/>
            <a:ext cx="2971800" cy="40690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</a:rPr>
              <a:t>Momentum I-FGSM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156448" y="23317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Like iterative FGSM, but accumulates gradient direction with momentum.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703320"/>
            <a:ext cx="2514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6448" y="4069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Strong and direction-aware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78240" y="4709160"/>
            <a:ext cx="1325880" cy="2926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steps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ASR is measured only on images the clean model originally classified correctly.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Epsilon values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777240" cy="7772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0.05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76272" y="1783080"/>
            <a:ext cx="777240" cy="77724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20574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0.10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38144" y="1783080"/>
            <a:ext cx="777240" cy="77724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20574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0.20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0016" y="1783080"/>
            <a:ext cx="777240" cy="7772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0574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0.30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Implementation details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691640"/>
            <a:ext cx="47548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Pixel values are normalized using MNIST mean/std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Epsilon and alpha are adjusted to normalized scale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PGD and MI-FGSM use alpha = epsilon / 10 and 10 steps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Perturbations are clamped to valid image range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914400" y="3749040"/>
            <a:ext cx="10287000" cy="1234440"/>
          </a:xfrm>
          <a:prstGeom prst="roundRect">
            <a:avLst>
              <a:gd name="adj" fmla="val 5926"/>
            </a:avLst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160520"/>
            <a:ext cx="9829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ASR = fooled originally-correct test images / originally-correct test images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Attack success rate increases with epsilon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Larger allowed perturbations make the attacks much more effective.</a:t>
            </a:r>
            <a:endParaRPr lang="en-US" sz="1050" dirty="0"/>
          </a:p>
        </p:txBody>
      </p:sp>
      <p:pic>
        <p:nvPicPr>
          <p:cNvPr id="4" name="Image 0" descr="/mnt/data/aa/asr_lin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61872"/>
            <a:ext cx="667512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4173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2440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Main observations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38160" y="2148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At ε = 0.05, all attacks are weak.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At ε = 0.20, PGD and MI-FGSM already fool about 95%.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At ε = 0.30, PGD and MI-FGSM almost completely fool the CNN.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clean recognition rate is high, but robustness is low under stronger attacks.</a:t>
            </a:r>
            <a:endParaRPr lang="en-US" sz="1050" dirty="0"/>
          </a:p>
        </p:txBody>
      </p:sp>
      <p:pic>
        <p:nvPicPr>
          <p:cNvPr id="4" name="Image 0" descr="/mnt/data/aa/as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6172200" cy="2560320"/>
          </a:xfrm>
          <a:prstGeom prst="rect">
            <a:avLst/>
          </a:prstGeom>
        </p:spPr>
      </p:pic>
      <p:pic>
        <p:nvPicPr>
          <p:cNvPr id="5" name="Image 1" descr="/mnt/data/aa/recognition_before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86200"/>
            <a:ext cx="6080760" cy="1874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60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Results summary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360920" y="1691640"/>
            <a:ext cx="960120" cy="347472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79208" y="1792224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11827"/>
                </a:solidFill>
              </a:rPr>
              <a:t>ε</a:t>
            </a:r>
            <a:endParaRPr lang="en-US" sz="980" dirty="0"/>
          </a:p>
        </p:txBody>
      </p:sp>
      <p:sp>
        <p:nvSpPr>
          <p:cNvPr id="9" name="Shape 5"/>
          <p:cNvSpPr/>
          <p:nvPr/>
        </p:nvSpPr>
        <p:spPr>
          <a:xfrm>
            <a:off x="8321040" y="1691640"/>
            <a:ext cx="960120" cy="347472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39328" y="1792224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11827"/>
                </a:solidFill>
              </a:rPr>
              <a:t>FGSM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9281160" y="1691640"/>
            <a:ext cx="960120" cy="347472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299448" y="1792224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11827"/>
                </a:solidFill>
              </a:rPr>
              <a:t>PGD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10241280" y="1691640"/>
            <a:ext cx="960120" cy="347472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59568" y="1792224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11827"/>
                </a:solidFill>
              </a:rPr>
              <a:t>MI-FGSM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7360920" y="2039112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79208" y="2139696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0.05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8321040" y="2039112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39328" y="2139696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3.21%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9281160" y="2039112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99448" y="2139696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5.04%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10241280" y="2039112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259568" y="2139696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4.92%</a:t>
            </a:r>
            <a:endParaRPr lang="en-US" sz="980" dirty="0"/>
          </a:p>
        </p:txBody>
      </p:sp>
      <p:sp>
        <p:nvSpPr>
          <p:cNvPr id="23" name="Shape 19"/>
          <p:cNvSpPr/>
          <p:nvPr/>
        </p:nvSpPr>
        <p:spPr>
          <a:xfrm>
            <a:off x="7360920" y="2386584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79208" y="2487168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0.10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8321040" y="2386584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339328" y="2487168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13.54%</a:t>
            </a:r>
            <a:endParaRPr lang="en-US" sz="980" dirty="0"/>
          </a:p>
        </p:txBody>
      </p:sp>
      <p:sp>
        <p:nvSpPr>
          <p:cNvPr id="27" name="Shape 23"/>
          <p:cNvSpPr/>
          <p:nvPr/>
        </p:nvSpPr>
        <p:spPr>
          <a:xfrm>
            <a:off x="9281160" y="2386584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299448" y="2487168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30.81%</a:t>
            </a:r>
            <a:endParaRPr lang="en-US" sz="980" dirty="0"/>
          </a:p>
        </p:txBody>
      </p:sp>
      <p:sp>
        <p:nvSpPr>
          <p:cNvPr id="29" name="Shape 25"/>
          <p:cNvSpPr/>
          <p:nvPr/>
        </p:nvSpPr>
        <p:spPr>
          <a:xfrm>
            <a:off x="10241280" y="2386584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259568" y="2487168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28.82%</a:t>
            </a:r>
            <a:endParaRPr lang="en-US" sz="980" dirty="0"/>
          </a:p>
        </p:txBody>
      </p:sp>
      <p:sp>
        <p:nvSpPr>
          <p:cNvPr id="31" name="Shape 27"/>
          <p:cNvSpPr/>
          <p:nvPr/>
        </p:nvSpPr>
        <p:spPr>
          <a:xfrm>
            <a:off x="7360920" y="2734056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379208" y="2834640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0.20</a:t>
            </a:r>
            <a:endParaRPr lang="en-US" sz="980" dirty="0"/>
          </a:p>
        </p:txBody>
      </p:sp>
      <p:sp>
        <p:nvSpPr>
          <p:cNvPr id="33" name="Shape 29"/>
          <p:cNvSpPr/>
          <p:nvPr/>
        </p:nvSpPr>
        <p:spPr>
          <a:xfrm>
            <a:off x="8321040" y="2734056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39328" y="2834640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67.14%</a:t>
            </a:r>
            <a:endParaRPr lang="en-US" sz="980" dirty="0"/>
          </a:p>
        </p:txBody>
      </p:sp>
      <p:sp>
        <p:nvSpPr>
          <p:cNvPr id="35" name="Shape 31"/>
          <p:cNvSpPr/>
          <p:nvPr/>
        </p:nvSpPr>
        <p:spPr>
          <a:xfrm>
            <a:off x="9281160" y="2734056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299448" y="2834640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95.90%</a:t>
            </a:r>
            <a:endParaRPr lang="en-US" sz="980" dirty="0"/>
          </a:p>
        </p:txBody>
      </p:sp>
      <p:sp>
        <p:nvSpPr>
          <p:cNvPr id="37" name="Shape 33"/>
          <p:cNvSpPr/>
          <p:nvPr/>
        </p:nvSpPr>
        <p:spPr>
          <a:xfrm>
            <a:off x="10241280" y="2734056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0259568" y="2834640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95.25%</a:t>
            </a:r>
            <a:endParaRPr lang="en-US" sz="980" dirty="0"/>
          </a:p>
        </p:txBody>
      </p:sp>
      <p:sp>
        <p:nvSpPr>
          <p:cNvPr id="39" name="Shape 35"/>
          <p:cNvSpPr/>
          <p:nvPr/>
        </p:nvSpPr>
        <p:spPr>
          <a:xfrm>
            <a:off x="7360920" y="3081528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379208" y="3182112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0.30</a:t>
            </a:r>
            <a:endParaRPr lang="en-US" sz="980" dirty="0"/>
          </a:p>
        </p:txBody>
      </p:sp>
      <p:sp>
        <p:nvSpPr>
          <p:cNvPr id="41" name="Shape 37"/>
          <p:cNvSpPr/>
          <p:nvPr/>
        </p:nvSpPr>
        <p:spPr>
          <a:xfrm>
            <a:off x="8321040" y="3081528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339328" y="3182112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87.08%</a:t>
            </a:r>
            <a:endParaRPr lang="en-US" sz="980" dirty="0"/>
          </a:p>
        </p:txBody>
      </p:sp>
      <p:sp>
        <p:nvSpPr>
          <p:cNvPr id="43" name="Shape 39"/>
          <p:cNvSpPr/>
          <p:nvPr/>
        </p:nvSpPr>
        <p:spPr>
          <a:xfrm>
            <a:off x="9281160" y="3081528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299448" y="3182112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99.98%</a:t>
            </a:r>
            <a:endParaRPr lang="en-US" sz="980" dirty="0"/>
          </a:p>
        </p:txBody>
      </p:sp>
      <p:sp>
        <p:nvSpPr>
          <p:cNvPr id="45" name="Shape 41"/>
          <p:cNvSpPr/>
          <p:nvPr/>
        </p:nvSpPr>
        <p:spPr>
          <a:xfrm>
            <a:off x="10241280" y="3081528"/>
            <a:ext cx="9601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0259568" y="3182112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99.95%</a:t>
            </a:r>
            <a:endParaRPr lang="en-US" sz="980" dirty="0"/>
          </a:p>
        </p:txBody>
      </p:sp>
      <p:sp>
        <p:nvSpPr>
          <p:cNvPr id="47" name="Text 43"/>
          <p:cNvSpPr/>
          <p:nvPr/>
        </p:nvSpPr>
        <p:spPr>
          <a:xfrm>
            <a:off x="7406640" y="4069080"/>
            <a:ext cx="3886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Clean test accuracy: 99.28%. At ε = 0.30, the best attacks reduce reliable recognition to almost zero.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iterative attacks are stronger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PGD and Momentum I-FGSM refine the adversarial image instead of making only one jump.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88720" y="2926080"/>
            <a:ext cx="9509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578608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429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Start image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578608"/>
            <a:ext cx="658368" cy="6583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3429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FGSM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one jump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578608"/>
            <a:ext cx="658368" cy="6583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3429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PGD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10 small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09760" y="2578608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3429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Decision boundary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crossed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104241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FGSM is fast but may under-shoot or move in a less optimal direction.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PGD repeatedly recalculates gradients and stays inside the allowed perturbation budget.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</a:rPr>
              <a:t>Momentum smooths the direction by accumulating gradients, which can make the attack more consistent.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Clean accuracy alone is not enough to judge model reliability.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99.28%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clean 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</a:rPr>
              <a:t>99.98%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63440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PGD ASR at ε = 0.30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13716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Next step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66760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adversarial training / defense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977640"/>
            <a:ext cx="101498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Takeaway: The CNN learned MNIST very well, but gradient-based adversarial attacks can exploit its sensitivity. Robustness should be evaluated separately from normal test accuracy.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5257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Repository: github.com/jye110/ai-hw-spring-2026-aa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575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Sofia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Attack MNIST Recognition</dc:title>
  <dc:subject>Attack MNIST Recognition</dc:subject>
  <dc:creator>Zhongling Ye</dc:creator>
  <cp:lastModifiedBy>Zhongling Ye</cp:lastModifiedBy>
  <cp:revision>1</cp:revision>
  <dcterms:created xsi:type="dcterms:W3CDTF">2026-05-30T16:49:34Z</dcterms:created>
  <dcterms:modified xsi:type="dcterms:W3CDTF">2026-05-30T16:49:34Z</dcterms:modified>
</cp:coreProperties>
</file>